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1430000" cy="10267950"/>
  <p:notesSz cx="11430000" cy="102679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1920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F95F87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95F87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95F87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95F87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20687"/>
            <a:ext cx="5650230" cy="1172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F95F87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172200" y="0"/>
            <a:ext cx="5257800" cy="6505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0" y="2390775"/>
            <a:ext cx="4806315" cy="1572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84785">
              <a:lnSpc>
                <a:spcPts val="4650"/>
              </a:lnSpc>
              <a:spcBef>
                <a:spcPts val="90"/>
              </a:spcBef>
            </a:pPr>
            <a:r>
              <a:rPr spc="-300" dirty="0"/>
              <a:t>Hospital</a:t>
            </a:r>
            <a:r>
              <a:rPr spc="-275" dirty="0"/>
              <a:t> </a:t>
            </a:r>
            <a:r>
              <a:rPr spc="-360" dirty="0"/>
              <a:t>Management </a:t>
            </a:r>
            <a:r>
              <a:rPr spc="-340" dirty="0"/>
              <a:t>System</a:t>
            </a:r>
            <a:r>
              <a:rPr spc="-260" dirty="0"/>
              <a:t> </a:t>
            </a:r>
            <a:r>
              <a:rPr spc="-195" dirty="0"/>
              <a:t>in</a:t>
            </a:r>
            <a:r>
              <a:rPr spc="-254" dirty="0"/>
              <a:t> </a:t>
            </a:r>
            <a:r>
              <a:rPr spc="-50" dirty="0"/>
              <a:t>C</a:t>
            </a: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50" spc="-130" dirty="0"/>
              <a:t>Efficient</a:t>
            </a:r>
            <a:r>
              <a:rPr sz="1850" spc="-105" dirty="0"/>
              <a:t> </a:t>
            </a:r>
            <a:r>
              <a:rPr sz="1850" spc="-150" dirty="0"/>
              <a:t>Patient</a:t>
            </a:r>
            <a:r>
              <a:rPr sz="1850" spc="-105" dirty="0"/>
              <a:t> </a:t>
            </a:r>
            <a:r>
              <a:rPr sz="1850" spc="-95" dirty="0"/>
              <a:t>&amp;</a:t>
            </a:r>
            <a:r>
              <a:rPr sz="1850" spc="-105" dirty="0"/>
              <a:t> </a:t>
            </a:r>
            <a:r>
              <a:rPr sz="1850" spc="-155" dirty="0"/>
              <a:t>Hospital</a:t>
            </a:r>
            <a:r>
              <a:rPr sz="1850" spc="-105" dirty="0"/>
              <a:t> </a:t>
            </a:r>
            <a:r>
              <a:rPr sz="1850" spc="-170" dirty="0"/>
              <a:t>Data</a:t>
            </a:r>
            <a:r>
              <a:rPr sz="1850" spc="-100" dirty="0"/>
              <a:t> </a:t>
            </a:r>
            <a:r>
              <a:rPr sz="1850" spc="-155" dirty="0"/>
              <a:t>Management</a:t>
            </a:r>
            <a:endParaRPr sz="1850" dirty="0"/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3625" y="1058862"/>
            <a:ext cx="4543425" cy="11817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5"/>
              </a:spcBef>
            </a:pPr>
            <a:r>
              <a:rPr spc="-415" dirty="0"/>
              <a:t>Why</a:t>
            </a:r>
            <a:r>
              <a:rPr spc="-275" dirty="0"/>
              <a:t> </a:t>
            </a:r>
            <a:r>
              <a:rPr spc="-265" dirty="0"/>
              <a:t>a</a:t>
            </a:r>
            <a:r>
              <a:rPr spc="-270" dirty="0"/>
              <a:t> </a:t>
            </a:r>
            <a:r>
              <a:rPr spc="-310" dirty="0"/>
              <a:t>Hospital </a:t>
            </a:r>
            <a:r>
              <a:rPr spc="-350" dirty="0"/>
              <a:t>Management</a:t>
            </a:r>
            <a:r>
              <a:rPr spc="-229" dirty="0"/>
              <a:t> </a:t>
            </a:r>
            <a:r>
              <a:rPr spc="-365" dirty="0"/>
              <a:t>System?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73625" y="2685732"/>
            <a:ext cx="2730500" cy="2447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spc="-155" dirty="0">
                <a:solidFill>
                  <a:srgbClr val="F95F87"/>
                </a:solidFill>
                <a:latin typeface="Georgia"/>
                <a:cs typeface="Georgia"/>
              </a:rPr>
              <a:t>The</a:t>
            </a:r>
            <a:r>
              <a:rPr sz="2200" b="1" spc="-150" dirty="0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sz="2200" b="1" spc="-55" dirty="0">
                <a:solidFill>
                  <a:srgbClr val="F95F87"/>
                </a:solidFill>
                <a:latin typeface="Georgia"/>
                <a:cs typeface="Georgia"/>
              </a:rPr>
              <a:t>Challenge</a:t>
            </a:r>
            <a:endParaRPr sz="2200">
              <a:latin typeface="Georgia"/>
              <a:cs typeface="Georgia"/>
            </a:endParaRPr>
          </a:p>
          <a:p>
            <a:pPr marL="12700" marR="5080">
              <a:lnSpc>
                <a:spcPct val="133500"/>
              </a:lnSpc>
              <a:spcBef>
                <a:spcPts val="1270"/>
              </a:spcBef>
            </a:pP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Manual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hospital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record-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keeping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is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inherently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error-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prone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frustratingly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slow.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Healthcare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professionals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need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instant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access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critical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patient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information,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appointment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schedules,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billing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details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provide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quality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care.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64055" y="2685732"/>
            <a:ext cx="2737485" cy="2447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spc="-155" dirty="0">
                <a:solidFill>
                  <a:srgbClr val="F95F87"/>
                </a:solidFill>
                <a:latin typeface="Georgia"/>
                <a:cs typeface="Georgia"/>
              </a:rPr>
              <a:t>The</a:t>
            </a:r>
            <a:r>
              <a:rPr sz="2200" b="1" spc="-150" dirty="0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sz="2200" b="1" spc="-40" dirty="0">
                <a:solidFill>
                  <a:srgbClr val="F95F87"/>
                </a:solidFill>
                <a:latin typeface="Georgia"/>
                <a:cs typeface="Georgia"/>
              </a:rPr>
              <a:t>Solution</a:t>
            </a:r>
            <a:endParaRPr sz="2200">
              <a:latin typeface="Georgia"/>
              <a:cs typeface="Georgia"/>
            </a:endParaRPr>
          </a:p>
          <a:p>
            <a:pPr marL="12700" marR="5080">
              <a:lnSpc>
                <a:spcPct val="133500"/>
              </a:lnSpc>
              <a:spcBef>
                <a:spcPts val="1270"/>
              </a:spcBef>
            </a:pP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language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offers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powerful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control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through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structures,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file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handling,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Verdana"/>
                <a:cs typeface="Verdana"/>
              </a:rPr>
              <a:t>loops4enabling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us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automate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hospital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operations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for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enhanced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accuracy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speed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whilst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maintaining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system efficiency.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1287462"/>
            <a:ext cx="927989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35" dirty="0"/>
              <a:t>Core</a:t>
            </a:r>
            <a:r>
              <a:rPr spc="-260" dirty="0"/>
              <a:t> </a:t>
            </a:r>
            <a:r>
              <a:rPr spc="-330" dirty="0"/>
              <a:t>Concepts:</a:t>
            </a:r>
            <a:r>
              <a:rPr spc="-260" dirty="0"/>
              <a:t> </a:t>
            </a:r>
            <a:r>
              <a:rPr spc="-325" dirty="0"/>
              <a:t>Structures,</a:t>
            </a:r>
            <a:r>
              <a:rPr spc="-254" dirty="0"/>
              <a:t> </a:t>
            </a:r>
            <a:r>
              <a:rPr spc="-265" dirty="0"/>
              <a:t>Files</a:t>
            </a:r>
            <a:r>
              <a:rPr spc="-260" dirty="0"/>
              <a:t> </a:t>
            </a:r>
            <a:r>
              <a:rPr spc="-185" dirty="0"/>
              <a:t>&amp;</a:t>
            </a:r>
            <a:r>
              <a:rPr spc="-254" dirty="0"/>
              <a:t> </a:t>
            </a:r>
            <a:r>
              <a:rPr spc="-355" dirty="0"/>
              <a:t>Loops</a:t>
            </a:r>
            <a:r>
              <a:rPr spc="-260" dirty="0"/>
              <a:t> </a:t>
            </a:r>
            <a:r>
              <a:rPr spc="-195" dirty="0"/>
              <a:t>in</a:t>
            </a:r>
            <a:r>
              <a:rPr spc="-260" dirty="0"/>
              <a:t> </a:t>
            </a:r>
            <a:r>
              <a:rPr spc="-50" dirty="0"/>
              <a:t>C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5" y="2276474"/>
            <a:ext cx="3295650" cy="2819400"/>
            <a:chOff x="600075" y="2276474"/>
            <a:chExt cx="3295650" cy="2819400"/>
          </a:xfrm>
        </p:grpSpPr>
        <p:sp>
          <p:nvSpPr>
            <p:cNvPr id="5" name="object 5"/>
            <p:cNvSpPr/>
            <p:nvPr/>
          </p:nvSpPr>
          <p:spPr>
            <a:xfrm>
              <a:off x="604837" y="2281237"/>
              <a:ext cx="3286125" cy="2809875"/>
            </a:xfrm>
            <a:custGeom>
              <a:avLst/>
              <a:gdLst/>
              <a:ahLst/>
              <a:cxnLst/>
              <a:rect l="l" t="t" r="r" b="b"/>
              <a:pathLst>
                <a:path w="3286125" h="2809875">
                  <a:moveTo>
                    <a:pt x="323451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2754630"/>
                  </a:lnTo>
                  <a:lnTo>
                    <a:pt x="0" y="2758262"/>
                  </a:lnTo>
                  <a:lnTo>
                    <a:pt x="18747" y="2796260"/>
                  </a:lnTo>
                  <a:lnTo>
                    <a:pt x="51619" y="2809875"/>
                  </a:lnTo>
                  <a:lnTo>
                    <a:pt x="3234512" y="2809875"/>
                  </a:lnTo>
                  <a:lnTo>
                    <a:pt x="3272510" y="2791129"/>
                  </a:lnTo>
                  <a:lnTo>
                    <a:pt x="3286125" y="2758262"/>
                  </a:lnTo>
                  <a:lnTo>
                    <a:pt x="3286125" y="51612"/>
                  </a:lnTo>
                  <a:lnTo>
                    <a:pt x="3267379" y="13614"/>
                  </a:lnTo>
                  <a:lnTo>
                    <a:pt x="3238093" y="355"/>
                  </a:lnTo>
                  <a:lnTo>
                    <a:pt x="3234512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837" y="2281237"/>
              <a:ext cx="3286125" cy="2809875"/>
            </a:xfrm>
            <a:custGeom>
              <a:avLst/>
              <a:gdLst/>
              <a:ahLst/>
              <a:cxnLst/>
              <a:rect l="l" t="t" r="r" b="b"/>
              <a:pathLst>
                <a:path w="3286125" h="2809875">
                  <a:moveTo>
                    <a:pt x="0" y="27546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81921" y="34099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2754630"/>
                  </a:lnTo>
                  <a:lnTo>
                    <a:pt x="3286125" y="2758262"/>
                  </a:lnTo>
                  <a:lnTo>
                    <a:pt x="3285769" y="2761843"/>
                  </a:lnTo>
                  <a:lnTo>
                    <a:pt x="3285058" y="2765412"/>
                  </a:lnTo>
                  <a:lnTo>
                    <a:pt x="3284359" y="2768968"/>
                  </a:lnTo>
                  <a:lnTo>
                    <a:pt x="3261575" y="2800565"/>
                  </a:lnTo>
                  <a:lnTo>
                    <a:pt x="3241649" y="2808808"/>
                  </a:lnTo>
                  <a:lnTo>
                    <a:pt x="3238093" y="2809519"/>
                  </a:lnTo>
                  <a:lnTo>
                    <a:pt x="3234512" y="2809875"/>
                  </a:lnTo>
                  <a:lnTo>
                    <a:pt x="3230880" y="2809875"/>
                  </a:lnTo>
                  <a:lnTo>
                    <a:pt x="55245" y="2809875"/>
                  </a:lnTo>
                  <a:lnTo>
                    <a:pt x="51619" y="2809875"/>
                  </a:lnTo>
                  <a:lnTo>
                    <a:pt x="48026" y="2809519"/>
                  </a:lnTo>
                  <a:lnTo>
                    <a:pt x="44465" y="2808808"/>
                  </a:lnTo>
                  <a:lnTo>
                    <a:pt x="40907" y="2808109"/>
                  </a:lnTo>
                  <a:lnTo>
                    <a:pt x="9311" y="2785313"/>
                  </a:lnTo>
                  <a:lnTo>
                    <a:pt x="7292" y="2782303"/>
                  </a:lnTo>
                  <a:lnTo>
                    <a:pt x="5590" y="2779128"/>
                  </a:lnTo>
                  <a:lnTo>
                    <a:pt x="4207" y="2775775"/>
                  </a:lnTo>
                  <a:lnTo>
                    <a:pt x="2818" y="2772410"/>
                  </a:lnTo>
                  <a:lnTo>
                    <a:pt x="1771" y="2768968"/>
                  </a:lnTo>
                  <a:lnTo>
                    <a:pt x="1061" y="2765412"/>
                  </a:lnTo>
                  <a:lnTo>
                    <a:pt x="351" y="2761843"/>
                  </a:lnTo>
                  <a:lnTo>
                    <a:pt x="0" y="2758262"/>
                  </a:lnTo>
                  <a:lnTo>
                    <a:pt x="0" y="2754630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1050" y="24574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6137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723" y="2603427"/>
              <a:ext cx="241780" cy="22560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68350" y="3104356"/>
            <a:ext cx="2940050" cy="1772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b="1" spc="-65" dirty="0">
                <a:solidFill>
                  <a:srgbClr val="262424"/>
                </a:solidFill>
                <a:latin typeface="Georgia"/>
                <a:cs typeface="Georgia"/>
              </a:rPr>
              <a:t>Structures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3100"/>
              </a:lnSpc>
              <a:spcBef>
                <a:spcPts val="745"/>
              </a:spcBef>
            </a:pP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Group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related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elements4such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as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patient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details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or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hospital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information4into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single,</a:t>
            </a: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cohesive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units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better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organisation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code </a:t>
            </a: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maintainability.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67175" y="2276474"/>
            <a:ext cx="3295650" cy="2819400"/>
            <a:chOff x="4067175" y="2276474"/>
            <a:chExt cx="3295650" cy="2819400"/>
          </a:xfrm>
        </p:grpSpPr>
        <p:sp>
          <p:nvSpPr>
            <p:cNvPr id="11" name="object 11"/>
            <p:cNvSpPr/>
            <p:nvPr/>
          </p:nvSpPr>
          <p:spPr>
            <a:xfrm>
              <a:off x="4071937" y="2281237"/>
              <a:ext cx="3286125" cy="2809875"/>
            </a:xfrm>
            <a:custGeom>
              <a:avLst/>
              <a:gdLst/>
              <a:ahLst/>
              <a:cxnLst/>
              <a:rect l="l" t="t" r="r" b="b"/>
              <a:pathLst>
                <a:path w="3286125" h="2809875">
                  <a:moveTo>
                    <a:pt x="3234512" y="0"/>
                  </a:moveTo>
                  <a:lnTo>
                    <a:pt x="51612" y="0"/>
                  </a:lnTo>
                  <a:lnTo>
                    <a:pt x="48031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754630"/>
                  </a:lnTo>
                  <a:lnTo>
                    <a:pt x="0" y="2758262"/>
                  </a:lnTo>
                  <a:lnTo>
                    <a:pt x="18745" y="2796260"/>
                  </a:lnTo>
                  <a:lnTo>
                    <a:pt x="51612" y="2809875"/>
                  </a:lnTo>
                  <a:lnTo>
                    <a:pt x="3234512" y="2809875"/>
                  </a:lnTo>
                  <a:lnTo>
                    <a:pt x="3272510" y="2791129"/>
                  </a:lnTo>
                  <a:lnTo>
                    <a:pt x="3286125" y="2758262"/>
                  </a:lnTo>
                  <a:lnTo>
                    <a:pt x="3286125" y="51612"/>
                  </a:lnTo>
                  <a:lnTo>
                    <a:pt x="3267379" y="13614"/>
                  </a:lnTo>
                  <a:lnTo>
                    <a:pt x="3238093" y="355"/>
                  </a:lnTo>
                  <a:lnTo>
                    <a:pt x="3234512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71937" y="2281237"/>
              <a:ext cx="3286125" cy="2809875"/>
            </a:xfrm>
            <a:custGeom>
              <a:avLst/>
              <a:gdLst/>
              <a:ahLst/>
              <a:cxnLst/>
              <a:rect l="l" t="t" r="r" b="b"/>
              <a:pathLst>
                <a:path w="3286125" h="2809875">
                  <a:moveTo>
                    <a:pt x="0" y="27546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2754630"/>
                  </a:lnTo>
                  <a:lnTo>
                    <a:pt x="3286125" y="2758262"/>
                  </a:lnTo>
                  <a:lnTo>
                    <a:pt x="3285769" y="2761843"/>
                  </a:lnTo>
                  <a:lnTo>
                    <a:pt x="3285058" y="2765412"/>
                  </a:lnTo>
                  <a:lnTo>
                    <a:pt x="3284359" y="2768968"/>
                  </a:lnTo>
                  <a:lnTo>
                    <a:pt x="3269945" y="2793695"/>
                  </a:lnTo>
                  <a:lnTo>
                    <a:pt x="3267379" y="2796260"/>
                  </a:lnTo>
                  <a:lnTo>
                    <a:pt x="3241649" y="2808808"/>
                  </a:lnTo>
                  <a:lnTo>
                    <a:pt x="3238093" y="2809519"/>
                  </a:lnTo>
                  <a:lnTo>
                    <a:pt x="3234512" y="2809875"/>
                  </a:lnTo>
                  <a:lnTo>
                    <a:pt x="3230880" y="2809875"/>
                  </a:lnTo>
                  <a:lnTo>
                    <a:pt x="55245" y="2809875"/>
                  </a:lnTo>
                  <a:lnTo>
                    <a:pt x="51612" y="2809875"/>
                  </a:lnTo>
                  <a:lnTo>
                    <a:pt x="48031" y="2809519"/>
                  </a:lnTo>
                  <a:lnTo>
                    <a:pt x="44462" y="2808808"/>
                  </a:lnTo>
                  <a:lnTo>
                    <a:pt x="40906" y="2808109"/>
                  </a:lnTo>
                  <a:lnTo>
                    <a:pt x="9309" y="2785313"/>
                  </a:lnTo>
                  <a:lnTo>
                    <a:pt x="7289" y="2782303"/>
                  </a:lnTo>
                  <a:lnTo>
                    <a:pt x="1066" y="2765412"/>
                  </a:lnTo>
                  <a:lnTo>
                    <a:pt x="355" y="2761843"/>
                  </a:lnTo>
                  <a:lnTo>
                    <a:pt x="0" y="2758262"/>
                  </a:lnTo>
                  <a:lnTo>
                    <a:pt x="0" y="2754630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48150" y="24574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78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6137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0372" y="2595199"/>
              <a:ext cx="192723" cy="24168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235450" y="3104356"/>
            <a:ext cx="2750185" cy="1772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b="1" spc="-135" dirty="0">
                <a:solidFill>
                  <a:srgbClr val="262424"/>
                </a:solidFill>
                <a:latin typeface="Georgia"/>
                <a:cs typeface="Georgia"/>
              </a:rPr>
              <a:t>File</a:t>
            </a:r>
            <a:r>
              <a:rPr sz="1850" b="1" spc="-12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50" b="1" spc="-35" dirty="0">
                <a:solidFill>
                  <a:srgbClr val="262424"/>
                </a:solidFill>
                <a:latin typeface="Georgia"/>
                <a:cs typeface="Georgia"/>
              </a:rPr>
              <a:t>Handling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3100"/>
              </a:lnSpc>
              <a:spcBef>
                <a:spcPts val="745"/>
              </a:spcBef>
            </a:pP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Store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retrieve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persistent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data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across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program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sessions,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ensuring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patient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records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hospital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information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remain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accessible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secure.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34275" y="2276474"/>
            <a:ext cx="3295650" cy="2819400"/>
            <a:chOff x="7534275" y="2276474"/>
            <a:chExt cx="3295650" cy="2819400"/>
          </a:xfrm>
        </p:grpSpPr>
        <p:sp>
          <p:nvSpPr>
            <p:cNvPr id="17" name="object 17"/>
            <p:cNvSpPr/>
            <p:nvPr/>
          </p:nvSpPr>
          <p:spPr>
            <a:xfrm>
              <a:off x="7539037" y="2281237"/>
              <a:ext cx="3286125" cy="2809875"/>
            </a:xfrm>
            <a:custGeom>
              <a:avLst/>
              <a:gdLst/>
              <a:ahLst/>
              <a:cxnLst/>
              <a:rect l="l" t="t" r="r" b="b"/>
              <a:pathLst>
                <a:path w="3286125" h="2809875">
                  <a:moveTo>
                    <a:pt x="323451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754630"/>
                  </a:lnTo>
                  <a:lnTo>
                    <a:pt x="0" y="2758262"/>
                  </a:lnTo>
                  <a:lnTo>
                    <a:pt x="18745" y="2796260"/>
                  </a:lnTo>
                  <a:lnTo>
                    <a:pt x="51612" y="2809875"/>
                  </a:lnTo>
                  <a:lnTo>
                    <a:pt x="3234512" y="2809875"/>
                  </a:lnTo>
                  <a:lnTo>
                    <a:pt x="3272510" y="2791129"/>
                  </a:lnTo>
                  <a:lnTo>
                    <a:pt x="3286125" y="2758262"/>
                  </a:lnTo>
                  <a:lnTo>
                    <a:pt x="3286125" y="51612"/>
                  </a:lnTo>
                  <a:lnTo>
                    <a:pt x="3267379" y="13614"/>
                  </a:lnTo>
                  <a:lnTo>
                    <a:pt x="3238093" y="355"/>
                  </a:lnTo>
                  <a:lnTo>
                    <a:pt x="3234512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39037" y="2281237"/>
              <a:ext cx="3286125" cy="2809875"/>
            </a:xfrm>
            <a:custGeom>
              <a:avLst/>
              <a:gdLst/>
              <a:ahLst/>
              <a:cxnLst/>
              <a:rect l="l" t="t" r="r" b="b"/>
              <a:pathLst>
                <a:path w="3286125" h="2809875">
                  <a:moveTo>
                    <a:pt x="0" y="27546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58553" y="7289"/>
                  </a:lnTo>
                  <a:lnTo>
                    <a:pt x="3261563" y="9309"/>
                  </a:lnTo>
                  <a:lnTo>
                    <a:pt x="3264585" y="11328"/>
                  </a:lnTo>
                  <a:lnTo>
                    <a:pt x="3267379" y="13614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2754630"/>
                  </a:lnTo>
                  <a:lnTo>
                    <a:pt x="3286125" y="2758262"/>
                  </a:lnTo>
                  <a:lnTo>
                    <a:pt x="3285769" y="2761843"/>
                  </a:lnTo>
                  <a:lnTo>
                    <a:pt x="3285058" y="2765412"/>
                  </a:lnTo>
                  <a:lnTo>
                    <a:pt x="3284359" y="2768968"/>
                  </a:lnTo>
                  <a:lnTo>
                    <a:pt x="3269945" y="2793695"/>
                  </a:lnTo>
                  <a:lnTo>
                    <a:pt x="3267379" y="2796260"/>
                  </a:lnTo>
                  <a:lnTo>
                    <a:pt x="3241649" y="2808808"/>
                  </a:lnTo>
                  <a:lnTo>
                    <a:pt x="3238093" y="2809519"/>
                  </a:lnTo>
                  <a:lnTo>
                    <a:pt x="3234512" y="2809875"/>
                  </a:lnTo>
                  <a:lnTo>
                    <a:pt x="3230880" y="2809875"/>
                  </a:lnTo>
                  <a:lnTo>
                    <a:pt x="55245" y="2809875"/>
                  </a:lnTo>
                  <a:lnTo>
                    <a:pt x="51612" y="2809875"/>
                  </a:lnTo>
                  <a:lnTo>
                    <a:pt x="48018" y="2809519"/>
                  </a:lnTo>
                  <a:lnTo>
                    <a:pt x="44462" y="2808808"/>
                  </a:lnTo>
                  <a:lnTo>
                    <a:pt x="40906" y="2808109"/>
                  </a:lnTo>
                  <a:lnTo>
                    <a:pt x="16179" y="2793695"/>
                  </a:lnTo>
                  <a:lnTo>
                    <a:pt x="13614" y="2791129"/>
                  </a:lnTo>
                  <a:lnTo>
                    <a:pt x="11328" y="2788335"/>
                  </a:lnTo>
                  <a:lnTo>
                    <a:pt x="9309" y="2785313"/>
                  </a:lnTo>
                  <a:lnTo>
                    <a:pt x="7289" y="2782303"/>
                  </a:lnTo>
                  <a:lnTo>
                    <a:pt x="1066" y="2765412"/>
                  </a:lnTo>
                  <a:lnTo>
                    <a:pt x="355" y="2761843"/>
                  </a:lnTo>
                  <a:lnTo>
                    <a:pt x="0" y="2758262"/>
                  </a:lnTo>
                  <a:lnTo>
                    <a:pt x="0" y="2754630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15250" y="24574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78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02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6137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2940" y="2595125"/>
              <a:ext cx="201678" cy="24183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702550" y="3104356"/>
            <a:ext cx="2884805" cy="149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b="1" spc="-10" dirty="0">
                <a:solidFill>
                  <a:srgbClr val="262424"/>
                </a:solidFill>
                <a:latin typeface="Georgia"/>
                <a:cs typeface="Georgia"/>
              </a:rPr>
              <a:t>Loops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2700"/>
              </a:lnSpc>
              <a:spcBef>
                <a:spcPts val="750"/>
              </a:spcBef>
            </a:pP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Navigate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through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records,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present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menu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options,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perform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repeated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tasks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Verdana"/>
                <a:cs typeface="Verdana"/>
              </a:rPr>
              <a:t>efficiently4the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backbone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of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interactive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 system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functionality.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7400925"/>
          </a:xfrm>
          <a:custGeom>
            <a:avLst/>
            <a:gdLst/>
            <a:ahLst/>
            <a:cxnLst/>
            <a:rect l="l" t="t" r="r" b="b"/>
            <a:pathLst>
              <a:path w="11430000" h="7400925">
                <a:moveTo>
                  <a:pt x="11430000" y="0"/>
                </a:moveTo>
                <a:lnTo>
                  <a:pt x="0" y="0"/>
                </a:lnTo>
                <a:lnTo>
                  <a:pt x="0" y="7400925"/>
                </a:lnTo>
                <a:lnTo>
                  <a:pt x="11430000" y="74009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1"/>
            <a:ext cx="4286250" cy="740092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70"/>
              </a:spcBef>
            </a:pPr>
            <a:r>
              <a:rPr spc="-280" dirty="0"/>
              <a:t>Defining</a:t>
            </a:r>
            <a:r>
              <a:rPr spc="-260" dirty="0"/>
              <a:t> </a:t>
            </a:r>
            <a:r>
              <a:rPr spc="-330" dirty="0"/>
              <a:t>Data</a:t>
            </a:r>
            <a:r>
              <a:rPr spc="-254" dirty="0"/>
              <a:t> </a:t>
            </a:r>
            <a:r>
              <a:rPr spc="-320" dirty="0"/>
              <a:t>with Structures</a:t>
            </a:r>
          </a:p>
        </p:txBody>
      </p:sp>
      <p:sp>
        <p:nvSpPr>
          <p:cNvPr id="7" name="object 7"/>
          <p:cNvSpPr/>
          <p:nvPr/>
        </p:nvSpPr>
        <p:spPr>
          <a:xfrm>
            <a:off x="600062" y="3305175"/>
            <a:ext cx="2762885" cy="2181860"/>
          </a:xfrm>
          <a:custGeom>
            <a:avLst/>
            <a:gdLst/>
            <a:ahLst/>
            <a:cxnLst/>
            <a:rect l="l" t="t" r="r" b="b"/>
            <a:pathLst>
              <a:path w="2762885" h="2181860">
                <a:moveTo>
                  <a:pt x="2762262" y="56070"/>
                </a:moveTo>
                <a:lnTo>
                  <a:pt x="2762250" y="55943"/>
                </a:lnTo>
                <a:lnTo>
                  <a:pt x="2762250" y="52057"/>
                </a:lnTo>
                <a:lnTo>
                  <a:pt x="2760726" y="44411"/>
                </a:lnTo>
                <a:lnTo>
                  <a:pt x="2759265" y="40894"/>
                </a:lnTo>
                <a:lnTo>
                  <a:pt x="2759202" y="40678"/>
                </a:lnTo>
                <a:lnTo>
                  <a:pt x="2756179" y="33401"/>
                </a:lnTo>
                <a:lnTo>
                  <a:pt x="2756090" y="33261"/>
                </a:lnTo>
                <a:lnTo>
                  <a:pt x="2754630" y="29705"/>
                </a:lnTo>
                <a:lnTo>
                  <a:pt x="2750299" y="23215"/>
                </a:lnTo>
                <a:lnTo>
                  <a:pt x="2747645" y="20574"/>
                </a:lnTo>
                <a:lnTo>
                  <a:pt x="2747480" y="20358"/>
                </a:lnTo>
                <a:lnTo>
                  <a:pt x="2741892" y="14795"/>
                </a:lnTo>
                <a:lnTo>
                  <a:pt x="2739047" y="11963"/>
                </a:lnTo>
                <a:lnTo>
                  <a:pt x="2732557" y="7620"/>
                </a:lnTo>
                <a:lnTo>
                  <a:pt x="2728976" y="6146"/>
                </a:lnTo>
                <a:lnTo>
                  <a:pt x="2728849" y="6070"/>
                </a:lnTo>
                <a:lnTo>
                  <a:pt x="2721572" y="3060"/>
                </a:lnTo>
                <a:lnTo>
                  <a:pt x="2721419" y="3022"/>
                </a:lnTo>
                <a:lnTo>
                  <a:pt x="2717850" y="1536"/>
                </a:lnTo>
                <a:lnTo>
                  <a:pt x="2710205" y="12"/>
                </a:lnTo>
                <a:lnTo>
                  <a:pt x="2706319" y="12"/>
                </a:lnTo>
                <a:lnTo>
                  <a:pt x="2706192" y="0"/>
                </a:lnTo>
                <a:lnTo>
                  <a:pt x="56070" y="0"/>
                </a:lnTo>
                <a:lnTo>
                  <a:pt x="55930" y="12"/>
                </a:lnTo>
                <a:lnTo>
                  <a:pt x="52057" y="12"/>
                </a:lnTo>
                <a:lnTo>
                  <a:pt x="44399" y="1536"/>
                </a:lnTo>
                <a:lnTo>
                  <a:pt x="40779" y="3035"/>
                </a:lnTo>
                <a:lnTo>
                  <a:pt x="33413" y="6070"/>
                </a:lnTo>
                <a:lnTo>
                  <a:pt x="29692" y="7620"/>
                </a:lnTo>
                <a:lnTo>
                  <a:pt x="23202" y="11963"/>
                </a:lnTo>
                <a:lnTo>
                  <a:pt x="20370" y="14795"/>
                </a:lnTo>
                <a:lnTo>
                  <a:pt x="14795" y="20358"/>
                </a:lnTo>
                <a:lnTo>
                  <a:pt x="11950" y="23215"/>
                </a:lnTo>
                <a:lnTo>
                  <a:pt x="7620" y="29705"/>
                </a:lnTo>
                <a:lnTo>
                  <a:pt x="6096" y="33362"/>
                </a:lnTo>
                <a:lnTo>
                  <a:pt x="3860" y="38773"/>
                </a:lnTo>
                <a:lnTo>
                  <a:pt x="3073" y="40678"/>
                </a:lnTo>
                <a:lnTo>
                  <a:pt x="1524" y="44411"/>
                </a:lnTo>
                <a:lnTo>
                  <a:pt x="0" y="52057"/>
                </a:lnTo>
                <a:lnTo>
                  <a:pt x="0" y="2129180"/>
                </a:lnTo>
                <a:lnTo>
                  <a:pt x="1524" y="2136838"/>
                </a:lnTo>
                <a:lnTo>
                  <a:pt x="23202" y="2169287"/>
                </a:lnTo>
                <a:lnTo>
                  <a:pt x="52057" y="2181237"/>
                </a:lnTo>
                <a:lnTo>
                  <a:pt x="2710205" y="2181237"/>
                </a:lnTo>
                <a:lnTo>
                  <a:pt x="2717850" y="2179713"/>
                </a:lnTo>
                <a:lnTo>
                  <a:pt x="2732557" y="2173630"/>
                </a:lnTo>
                <a:lnTo>
                  <a:pt x="2739047" y="2169287"/>
                </a:lnTo>
                <a:lnTo>
                  <a:pt x="2741904" y="2166429"/>
                </a:lnTo>
                <a:lnTo>
                  <a:pt x="2747480" y="2160867"/>
                </a:lnTo>
                <a:lnTo>
                  <a:pt x="2750299" y="2158034"/>
                </a:lnTo>
                <a:lnTo>
                  <a:pt x="2754630" y="2151545"/>
                </a:lnTo>
                <a:lnTo>
                  <a:pt x="2756141" y="2147887"/>
                </a:lnTo>
                <a:lnTo>
                  <a:pt x="2759202" y="2140534"/>
                </a:lnTo>
                <a:lnTo>
                  <a:pt x="2760726" y="2136838"/>
                </a:lnTo>
                <a:lnTo>
                  <a:pt x="2762250" y="2129180"/>
                </a:lnTo>
                <a:lnTo>
                  <a:pt x="2762250" y="2125294"/>
                </a:lnTo>
                <a:lnTo>
                  <a:pt x="2762262" y="2125154"/>
                </a:lnTo>
                <a:lnTo>
                  <a:pt x="2762262" y="56070"/>
                </a:lnTo>
                <a:close/>
              </a:path>
            </a:pathLst>
          </a:custGeom>
          <a:solidFill>
            <a:srgbClr val="F0ED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0341" y="3383915"/>
            <a:ext cx="1725295" cy="1949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6530" marR="378460" indent="-164465">
              <a:lnSpc>
                <a:spcPct val="131900"/>
              </a:lnSpc>
              <a:spcBef>
                <a:spcPts val="13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struct</a:t>
            </a: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Patient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{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char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name[50];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age;</a:t>
            </a:r>
            <a:endParaRPr sz="1350">
              <a:latin typeface="Tahoma"/>
              <a:cs typeface="Tahoma"/>
            </a:endParaRPr>
          </a:p>
          <a:p>
            <a:pPr marL="176530" marR="5080">
              <a:lnSpc>
                <a:spcPct val="134300"/>
              </a:lnSpc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char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gender[10];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char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diagnosis[100];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patientID;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};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375" y="5612765"/>
            <a:ext cx="259778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Captures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essential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patient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information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single,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organised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unit.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90937" y="3305175"/>
            <a:ext cx="2762885" cy="2458085"/>
          </a:xfrm>
          <a:custGeom>
            <a:avLst/>
            <a:gdLst/>
            <a:ahLst/>
            <a:cxnLst/>
            <a:rect l="l" t="t" r="r" b="b"/>
            <a:pathLst>
              <a:path w="2762884" h="2458085">
                <a:moveTo>
                  <a:pt x="2762262" y="56070"/>
                </a:moveTo>
                <a:lnTo>
                  <a:pt x="2762250" y="55943"/>
                </a:lnTo>
                <a:lnTo>
                  <a:pt x="2762250" y="52057"/>
                </a:lnTo>
                <a:lnTo>
                  <a:pt x="2760726" y="44411"/>
                </a:lnTo>
                <a:lnTo>
                  <a:pt x="2759252" y="40881"/>
                </a:lnTo>
                <a:lnTo>
                  <a:pt x="2759202" y="40678"/>
                </a:lnTo>
                <a:lnTo>
                  <a:pt x="2756179" y="33401"/>
                </a:lnTo>
                <a:lnTo>
                  <a:pt x="2756090" y="33261"/>
                </a:lnTo>
                <a:lnTo>
                  <a:pt x="2754630" y="29705"/>
                </a:lnTo>
                <a:lnTo>
                  <a:pt x="2750299" y="23215"/>
                </a:lnTo>
                <a:lnTo>
                  <a:pt x="2747581" y="20510"/>
                </a:lnTo>
                <a:lnTo>
                  <a:pt x="2747467" y="20358"/>
                </a:lnTo>
                <a:lnTo>
                  <a:pt x="2741892" y="14795"/>
                </a:lnTo>
                <a:lnTo>
                  <a:pt x="2739047" y="11963"/>
                </a:lnTo>
                <a:lnTo>
                  <a:pt x="2732557" y="7620"/>
                </a:lnTo>
                <a:lnTo>
                  <a:pt x="2729026" y="6172"/>
                </a:lnTo>
                <a:lnTo>
                  <a:pt x="2728861" y="6070"/>
                </a:lnTo>
                <a:lnTo>
                  <a:pt x="2721572" y="3060"/>
                </a:lnTo>
                <a:lnTo>
                  <a:pt x="2721419" y="3022"/>
                </a:lnTo>
                <a:lnTo>
                  <a:pt x="2717850" y="1536"/>
                </a:lnTo>
                <a:lnTo>
                  <a:pt x="2710205" y="12"/>
                </a:lnTo>
                <a:lnTo>
                  <a:pt x="2706319" y="12"/>
                </a:lnTo>
                <a:lnTo>
                  <a:pt x="2706192" y="0"/>
                </a:lnTo>
                <a:lnTo>
                  <a:pt x="56083" y="0"/>
                </a:lnTo>
                <a:lnTo>
                  <a:pt x="55943" y="12"/>
                </a:lnTo>
                <a:lnTo>
                  <a:pt x="52044" y="12"/>
                </a:lnTo>
                <a:lnTo>
                  <a:pt x="44399" y="1536"/>
                </a:lnTo>
                <a:lnTo>
                  <a:pt x="40741" y="3048"/>
                </a:lnTo>
                <a:lnTo>
                  <a:pt x="33413" y="6070"/>
                </a:lnTo>
                <a:lnTo>
                  <a:pt x="29692" y="7620"/>
                </a:lnTo>
                <a:lnTo>
                  <a:pt x="23202" y="11963"/>
                </a:lnTo>
                <a:lnTo>
                  <a:pt x="20370" y="14795"/>
                </a:lnTo>
                <a:lnTo>
                  <a:pt x="14795" y="20358"/>
                </a:lnTo>
                <a:lnTo>
                  <a:pt x="11950" y="23215"/>
                </a:lnTo>
                <a:lnTo>
                  <a:pt x="7607" y="29705"/>
                </a:lnTo>
                <a:lnTo>
                  <a:pt x="3073" y="40678"/>
                </a:lnTo>
                <a:lnTo>
                  <a:pt x="1524" y="44411"/>
                </a:lnTo>
                <a:lnTo>
                  <a:pt x="0" y="52057"/>
                </a:lnTo>
                <a:lnTo>
                  <a:pt x="0" y="2405405"/>
                </a:lnTo>
                <a:lnTo>
                  <a:pt x="23202" y="2445512"/>
                </a:lnTo>
                <a:lnTo>
                  <a:pt x="52044" y="2457462"/>
                </a:lnTo>
                <a:lnTo>
                  <a:pt x="56083" y="2457462"/>
                </a:lnTo>
                <a:lnTo>
                  <a:pt x="2706192" y="2457462"/>
                </a:lnTo>
                <a:lnTo>
                  <a:pt x="2710205" y="2457462"/>
                </a:lnTo>
                <a:lnTo>
                  <a:pt x="2717850" y="2455938"/>
                </a:lnTo>
                <a:lnTo>
                  <a:pt x="2732557" y="2449855"/>
                </a:lnTo>
                <a:lnTo>
                  <a:pt x="2739047" y="2445512"/>
                </a:lnTo>
                <a:lnTo>
                  <a:pt x="2747467" y="2437092"/>
                </a:lnTo>
                <a:lnTo>
                  <a:pt x="2750299" y="2434259"/>
                </a:lnTo>
                <a:lnTo>
                  <a:pt x="2754630" y="2427770"/>
                </a:lnTo>
                <a:lnTo>
                  <a:pt x="2756141" y="2424112"/>
                </a:lnTo>
                <a:lnTo>
                  <a:pt x="2759202" y="2416759"/>
                </a:lnTo>
                <a:lnTo>
                  <a:pt x="2760726" y="2413063"/>
                </a:lnTo>
                <a:lnTo>
                  <a:pt x="2762250" y="2405405"/>
                </a:lnTo>
                <a:lnTo>
                  <a:pt x="2762250" y="2401519"/>
                </a:lnTo>
                <a:lnTo>
                  <a:pt x="2762262" y="2401379"/>
                </a:lnTo>
                <a:lnTo>
                  <a:pt x="2762262" y="56070"/>
                </a:lnTo>
                <a:close/>
              </a:path>
            </a:pathLst>
          </a:custGeom>
          <a:solidFill>
            <a:srgbClr val="F0ED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40771" y="3383915"/>
            <a:ext cx="1445895" cy="2216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6530" marR="5080" indent="-164465">
              <a:lnSpc>
                <a:spcPct val="131900"/>
              </a:lnSpc>
              <a:spcBef>
                <a:spcPts val="13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struct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Hospital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{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char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name[100];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char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city[50];</a:t>
            </a:r>
            <a:endParaRPr sz="1350">
              <a:latin typeface="Tahoma"/>
              <a:cs typeface="Tahoma"/>
            </a:endParaRPr>
          </a:p>
          <a:p>
            <a:pPr marL="176530" marR="383540">
              <a:lnSpc>
                <a:spcPct val="134300"/>
              </a:lnSpc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beds;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float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price;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float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rating;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reviews;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};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7375" y="1840865"/>
            <a:ext cx="5772785" cy="1248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Structures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allow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us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create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custom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types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that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mirror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real-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world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entities,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making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code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more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intuitive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maintainable.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3202940" algn="l"/>
              </a:tabLst>
            </a:pPr>
            <a:r>
              <a:rPr sz="1850" b="1" spc="-150" dirty="0">
                <a:solidFill>
                  <a:srgbClr val="F95F87"/>
                </a:solidFill>
                <a:latin typeface="Georgia"/>
                <a:cs typeface="Georgia"/>
              </a:rPr>
              <a:t>Patient</a:t>
            </a:r>
            <a:r>
              <a:rPr sz="1850" b="1" spc="-105" dirty="0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sz="1850" b="1" spc="-10" dirty="0">
                <a:solidFill>
                  <a:srgbClr val="F95F87"/>
                </a:solidFill>
                <a:latin typeface="Georgia"/>
                <a:cs typeface="Georgia"/>
              </a:rPr>
              <a:t>Structure</a:t>
            </a:r>
            <a:r>
              <a:rPr sz="1850" b="1" dirty="0">
                <a:solidFill>
                  <a:srgbClr val="F95F87"/>
                </a:solidFill>
                <a:latin typeface="Georgia"/>
                <a:cs typeface="Georgia"/>
              </a:rPr>
              <a:t>	</a:t>
            </a:r>
            <a:r>
              <a:rPr sz="1850" b="1" spc="-155" dirty="0">
                <a:solidFill>
                  <a:srgbClr val="F95F87"/>
                </a:solidFill>
                <a:latin typeface="Georgia"/>
                <a:cs typeface="Georgia"/>
              </a:rPr>
              <a:t>Hospital</a:t>
            </a:r>
            <a:r>
              <a:rPr sz="1850" b="1" spc="-100" dirty="0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sz="1850" b="1" spc="-50" dirty="0">
                <a:solidFill>
                  <a:srgbClr val="F95F87"/>
                </a:solidFill>
                <a:latin typeface="Georgia"/>
                <a:cs typeface="Georgia"/>
              </a:rPr>
              <a:t>Structure</a:t>
            </a:r>
            <a:endParaRPr sz="185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7805" y="5888987"/>
            <a:ext cx="242633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Stores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comprehensive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hospital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efficient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facility management.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7781925"/>
          </a:xfrm>
          <a:custGeom>
            <a:avLst/>
            <a:gdLst/>
            <a:ahLst/>
            <a:cxnLst/>
            <a:rect l="l" t="t" r="r" b="b"/>
            <a:pathLst>
              <a:path w="11430000" h="7781925">
                <a:moveTo>
                  <a:pt x="11430000" y="0"/>
                </a:moveTo>
                <a:lnTo>
                  <a:pt x="0" y="0"/>
                </a:lnTo>
                <a:lnTo>
                  <a:pt x="0" y="7781925"/>
                </a:lnTo>
                <a:lnTo>
                  <a:pt x="11430000" y="77819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1"/>
            <a:ext cx="4286250" cy="778192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70"/>
              </a:spcBef>
            </a:pPr>
            <a:r>
              <a:rPr spc="-310" dirty="0"/>
              <a:t>Managing</a:t>
            </a:r>
            <a:r>
              <a:rPr spc="-270" dirty="0"/>
              <a:t> </a:t>
            </a:r>
            <a:r>
              <a:rPr spc="-330" dirty="0"/>
              <a:t>Data</a:t>
            </a:r>
            <a:r>
              <a:rPr spc="-270" dirty="0"/>
              <a:t> </a:t>
            </a:r>
            <a:r>
              <a:rPr spc="-310" dirty="0"/>
              <a:t>Persistence </a:t>
            </a:r>
            <a:r>
              <a:rPr spc="-300" dirty="0"/>
              <a:t>with</a:t>
            </a:r>
            <a:r>
              <a:rPr spc="-265" dirty="0"/>
              <a:t> </a:t>
            </a:r>
            <a:r>
              <a:rPr spc="-285" dirty="0"/>
              <a:t>Files</a:t>
            </a:r>
          </a:p>
        </p:txBody>
      </p:sp>
      <p:sp>
        <p:nvSpPr>
          <p:cNvPr id="7" name="object 7"/>
          <p:cNvSpPr/>
          <p:nvPr/>
        </p:nvSpPr>
        <p:spPr>
          <a:xfrm>
            <a:off x="600075" y="2181225"/>
            <a:ext cx="2886075" cy="19050"/>
          </a:xfrm>
          <a:custGeom>
            <a:avLst/>
            <a:gdLst/>
            <a:ahLst/>
            <a:cxnLst/>
            <a:rect l="l" t="t" r="r" b="b"/>
            <a:pathLst>
              <a:path w="2886075" h="19050">
                <a:moveTo>
                  <a:pt x="2886075" y="0"/>
                </a:moveTo>
                <a:lnTo>
                  <a:pt x="0" y="0"/>
                </a:lnTo>
                <a:lnTo>
                  <a:pt x="0" y="19050"/>
                </a:lnTo>
                <a:lnTo>
                  <a:pt x="2886075" y="19050"/>
                </a:lnTo>
                <a:lnTo>
                  <a:pt x="2886075" y="0"/>
                </a:lnTo>
                <a:close/>
              </a:path>
            </a:pathLst>
          </a:custGeom>
          <a:solidFill>
            <a:srgbClr val="6137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7374" y="2266156"/>
            <a:ext cx="2651760" cy="1219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850" b="1" spc="-135" dirty="0">
                <a:solidFill>
                  <a:srgbClr val="262424"/>
                </a:solidFill>
                <a:latin typeface="Georgia"/>
                <a:cs typeface="Georgia"/>
              </a:rPr>
              <a:t>File</a:t>
            </a:r>
            <a:r>
              <a:rPr sz="1850" b="1" spc="-12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50" b="1" spc="-65" dirty="0">
                <a:solidFill>
                  <a:srgbClr val="262424"/>
                </a:solidFill>
                <a:latin typeface="Georgia"/>
                <a:cs typeface="Georgia"/>
              </a:rPr>
              <a:t>Operations</a:t>
            </a:r>
            <a:endParaRPr sz="1850">
              <a:latin typeface="Georgia"/>
              <a:cs typeface="Georgia"/>
            </a:endParaRPr>
          </a:p>
          <a:p>
            <a:pPr marL="12700" marR="5080" algn="just">
              <a:lnSpc>
                <a:spcPct val="131900"/>
              </a:lnSpc>
              <a:spcBef>
                <a:spcPts val="765"/>
              </a:spcBef>
            </a:pP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Use</a:t>
            </a:r>
            <a:r>
              <a:rPr sz="13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fopen()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,</a:t>
            </a:r>
            <a:r>
              <a:rPr sz="13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1" spc="-95" dirty="0">
                <a:solidFill>
                  <a:srgbClr val="262424"/>
                </a:solidFill>
                <a:latin typeface="Tahoma"/>
                <a:cs typeface="Tahoma"/>
              </a:rPr>
              <a:t>fread()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,</a:t>
            </a:r>
            <a:r>
              <a:rPr sz="13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1" spc="-55" dirty="0">
                <a:solidFill>
                  <a:srgbClr val="262424"/>
                </a:solidFill>
                <a:latin typeface="Tahoma"/>
                <a:cs typeface="Tahoma"/>
              </a:rPr>
              <a:t>fwrite()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functions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90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save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load</a:t>
            </a:r>
            <a:r>
              <a:rPr sz="1350" spc="-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patient and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hospital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efficiently.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8267" y="1873250"/>
            <a:ext cx="326961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56255" algn="l"/>
              </a:tabLst>
            </a:pPr>
            <a:r>
              <a:rPr sz="1350" spc="-25" dirty="0">
                <a:solidFill>
                  <a:srgbClr val="262424"/>
                </a:solidFill>
                <a:latin typeface="Georgia"/>
                <a:cs typeface="Georgia"/>
              </a:rPr>
              <a:t>01</a:t>
            </a:r>
            <a:r>
              <a:rPr sz="1350" dirty="0">
                <a:solidFill>
                  <a:srgbClr val="262424"/>
                </a:solidFill>
                <a:latin typeface="Georgia"/>
                <a:cs typeface="Georgia"/>
              </a:rPr>
              <a:t>	</a:t>
            </a:r>
            <a:r>
              <a:rPr sz="1350" spc="-25" dirty="0">
                <a:solidFill>
                  <a:srgbClr val="262424"/>
                </a:solidFill>
                <a:latin typeface="Georgia"/>
                <a:cs typeface="Georgia"/>
              </a:rPr>
              <a:t>02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57600" y="2181225"/>
            <a:ext cx="2886075" cy="19050"/>
          </a:xfrm>
          <a:custGeom>
            <a:avLst/>
            <a:gdLst/>
            <a:ahLst/>
            <a:cxnLst/>
            <a:rect l="l" t="t" r="r" b="b"/>
            <a:pathLst>
              <a:path w="2886075" h="19050">
                <a:moveTo>
                  <a:pt x="2886075" y="0"/>
                </a:moveTo>
                <a:lnTo>
                  <a:pt x="0" y="0"/>
                </a:lnTo>
                <a:lnTo>
                  <a:pt x="0" y="19050"/>
                </a:lnTo>
                <a:lnTo>
                  <a:pt x="2886075" y="19050"/>
                </a:lnTo>
                <a:lnTo>
                  <a:pt x="2886075" y="0"/>
                </a:lnTo>
                <a:close/>
              </a:path>
            </a:pathLst>
          </a:custGeom>
          <a:solidFill>
            <a:srgbClr val="6137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44900" y="2266156"/>
            <a:ext cx="2694940" cy="149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b="1" spc="-170" dirty="0">
                <a:solidFill>
                  <a:srgbClr val="262424"/>
                </a:solidFill>
                <a:latin typeface="Georgia"/>
                <a:cs typeface="Georgia"/>
              </a:rPr>
              <a:t>Data</a:t>
            </a:r>
            <a:r>
              <a:rPr sz="1850" b="1" spc="-114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50" b="1" spc="-35" dirty="0">
                <a:solidFill>
                  <a:srgbClr val="262424"/>
                </a:solidFill>
                <a:latin typeface="Georgia"/>
                <a:cs typeface="Georgia"/>
              </a:rPr>
              <a:t>Integrity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2700"/>
              </a:lnSpc>
              <a:spcBef>
                <a:spcPts val="750"/>
              </a:spcBef>
            </a:pPr>
            <a:r>
              <a:rPr sz="1350" spc="-35" dirty="0">
                <a:solidFill>
                  <a:srgbClr val="262424"/>
                </a:solidFill>
                <a:latin typeface="Verdana"/>
                <a:cs typeface="Verdana"/>
              </a:rPr>
              <a:t>Check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file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existence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before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operations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ensure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integrity and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prevent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system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errors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or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data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corruption.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075" y="4371975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6137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3836" y="4064000"/>
            <a:ext cx="5878195" cy="13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262424"/>
                </a:solidFill>
                <a:latin typeface="Georgia"/>
                <a:cs typeface="Georgia"/>
              </a:rPr>
              <a:t>03</a:t>
            </a:r>
            <a:endParaRPr sz="1350">
              <a:latin typeface="Georgia"/>
              <a:cs typeface="Georgia"/>
            </a:endParaRPr>
          </a:p>
          <a:p>
            <a:pPr marL="26034">
              <a:lnSpc>
                <a:spcPct val="100000"/>
              </a:lnSpc>
              <a:spcBef>
                <a:spcPts val="1480"/>
              </a:spcBef>
            </a:pPr>
            <a:r>
              <a:rPr sz="1850" b="1" spc="-160" dirty="0">
                <a:solidFill>
                  <a:srgbClr val="262424"/>
                </a:solidFill>
                <a:latin typeface="Georgia"/>
                <a:cs typeface="Georgia"/>
              </a:rPr>
              <a:t>Persistent</a:t>
            </a:r>
            <a:r>
              <a:rPr sz="1850" b="1" spc="-4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50" b="1" spc="-35" dirty="0">
                <a:solidFill>
                  <a:srgbClr val="262424"/>
                </a:solidFill>
                <a:latin typeface="Georgia"/>
                <a:cs typeface="Georgia"/>
              </a:rPr>
              <a:t>Storage</a:t>
            </a:r>
            <a:endParaRPr sz="1850">
              <a:latin typeface="Georgia"/>
              <a:cs typeface="Georgia"/>
            </a:endParaRPr>
          </a:p>
          <a:p>
            <a:pPr marL="26034" marR="5080">
              <a:lnSpc>
                <a:spcPct val="129600"/>
              </a:lnSpc>
              <a:spcBef>
                <a:spcPts val="800"/>
              </a:spcBef>
            </a:pP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Enable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retention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beyond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program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runtime4unlike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volatile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memory,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file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storage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preserves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critical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information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permanently.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075" y="5762625"/>
            <a:ext cx="5943600" cy="1552575"/>
            <a:chOff x="600075" y="5762625"/>
            <a:chExt cx="5943600" cy="1552575"/>
          </a:xfrm>
        </p:grpSpPr>
        <p:sp>
          <p:nvSpPr>
            <p:cNvPr id="15" name="object 15"/>
            <p:cNvSpPr/>
            <p:nvPr/>
          </p:nvSpPr>
          <p:spPr>
            <a:xfrm>
              <a:off x="600075" y="5762625"/>
              <a:ext cx="5943600" cy="1552575"/>
            </a:xfrm>
            <a:custGeom>
              <a:avLst/>
              <a:gdLst/>
              <a:ahLst/>
              <a:cxnLst/>
              <a:rect l="l" t="t" r="r" b="b"/>
              <a:pathLst>
                <a:path w="5943600" h="1552575">
                  <a:moveTo>
                    <a:pt x="5887529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492564"/>
                  </a:lnTo>
                  <a:lnTo>
                    <a:pt x="0" y="1496509"/>
                  </a:lnTo>
                  <a:lnTo>
                    <a:pt x="14789" y="1532213"/>
                  </a:lnTo>
                  <a:lnTo>
                    <a:pt x="52163" y="1552191"/>
                  </a:lnTo>
                  <a:lnTo>
                    <a:pt x="56067" y="1552572"/>
                  </a:lnTo>
                  <a:lnTo>
                    <a:pt x="5887529" y="1552572"/>
                  </a:lnTo>
                  <a:lnTo>
                    <a:pt x="5923229" y="1537784"/>
                  </a:lnTo>
                  <a:lnTo>
                    <a:pt x="5943219" y="1500408"/>
                  </a:lnTo>
                  <a:lnTo>
                    <a:pt x="5943600" y="1496509"/>
                  </a:lnTo>
                  <a:lnTo>
                    <a:pt x="5943600" y="56070"/>
                  </a:lnTo>
                  <a:lnTo>
                    <a:pt x="5928817" y="20358"/>
                  </a:lnTo>
                  <a:lnTo>
                    <a:pt x="5891441" y="381"/>
                  </a:lnTo>
                  <a:lnTo>
                    <a:pt x="5887529" y="0"/>
                  </a:lnTo>
                  <a:close/>
                </a:path>
              </a:pathLst>
            </a:custGeom>
            <a:solidFill>
              <a:srgbClr val="D0C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672" y="6030519"/>
              <a:ext cx="150018" cy="15001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44587" y="5908040"/>
            <a:ext cx="5107305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b="1" spc="-35" dirty="0">
                <a:latin typeface="Tahoma"/>
                <a:cs typeface="Tahoma"/>
              </a:rPr>
              <a:t>Key</a:t>
            </a:r>
            <a:r>
              <a:rPr sz="1350" b="1" spc="-100" dirty="0">
                <a:latin typeface="Tahoma"/>
                <a:cs typeface="Tahoma"/>
              </a:rPr>
              <a:t> </a:t>
            </a:r>
            <a:r>
              <a:rPr sz="1350" b="1" spc="-45" dirty="0">
                <a:latin typeface="Tahoma"/>
                <a:cs typeface="Tahoma"/>
              </a:rPr>
              <a:t>Advantage:</a:t>
            </a:r>
            <a:r>
              <a:rPr sz="1350" b="1" spc="-25" dirty="0">
                <a:latin typeface="Tahoma"/>
                <a:cs typeface="Tahoma"/>
              </a:rPr>
              <a:t> </a:t>
            </a:r>
            <a:r>
              <a:rPr sz="1350" spc="-55" dirty="0">
                <a:latin typeface="Verdana"/>
                <a:cs typeface="Verdana"/>
              </a:rPr>
              <a:t>File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80" dirty="0">
                <a:latin typeface="Verdana"/>
                <a:cs typeface="Verdana"/>
              </a:rPr>
              <a:t>handling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65" dirty="0">
                <a:latin typeface="Verdana"/>
                <a:cs typeface="Verdana"/>
              </a:rPr>
              <a:t>ensures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100" dirty="0">
                <a:latin typeface="Verdana"/>
                <a:cs typeface="Verdana"/>
              </a:rPr>
              <a:t>that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85" dirty="0">
                <a:latin typeface="Verdana"/>
                <a:cs typeface="Verdana"/>
              </a:rPr>
              <a:t>patient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records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and </a:t>
            </a:r>
            <a:r>
              <a:rPr sz="1350" spc="-75" dirty="0">
                <a:latin typeface="Verdana"/>
                <a:cs typeface="Verdana"/>
              </a:rPr>
              <a:t>hospital</a:t>
            </a:r>
            <a:r>
              <a:rPr sz="1350" spc="-100" dirty="0">
                <a:latin typeface="Verdana"/>
                <a:cs typeface="Verdana"/>
              </a:rPr>
              <a:t> </a:t>
            </a:r>
            <a:r>
              <a:rPr sz="1350" spc="-90" dirty="0">
                <a:latin typeface="Verdana"/>
                <a:cs typeface="Verdana"/>
              </a:rPr>
              <a:t>information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100" dirty="0">
                <a:latin typeface="Verdana"/>
                <a:cs typeface="Verdana"/>
              </a:rPr>
              <a:t>remain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40" dirty="0">
                <a:latin typeface="Verdana"/>
                <a:cs typeface="Verdana"/>
              </a:rPr>
              <a:t>accessible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75" dirty="0">
                <a:latin typeface="Verdana"/>
                <a:cs typeface="Verdana"/>
              </a:rPr>
              <a:t>even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85" dirty="0">
                <a:latin typeface="Verdana"/>
                <a:cs typeface="Verdana"/>
              </a:rPr>
              <a:t>after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system </a:t>
            </a:r>
            <a:r>
              <a:rPr sz="1350" spc="-70" dirty="0">
                <a:latin typeface="Verdana"/>
                <a:cs typeface="Verdana"/>
              </a:rPr>
              <a:t>shutdowns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65" dirty="0">
                <a:latin typeface="Verdana"/>
                <a:cs typeface="Verdana"/>
              </a:rPr>
              <a:t>or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65" dirty="0">
                <a:latin typeface="Verdana"/>
                <a:cs typeface="Verdana"/>
              </a:rPr>
              <a:t>power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80" dirty="0">
                <a:latin typeface="Verdana"/>
                <a:cs typeface="Verdana"/>
              </a:rPr>
              <a:t>failures,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75" dirty="0">
                <a:latin typeface="Verdana"/>
                <a:cs typeface="Verdana"/>
              </a:rPr>
              <a:t>providing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75" dirty="0">
                <a:latin typeface="Verdana"/>
                <a:cs typeface="Verdana"/>
              </a:rPr>
              <a:t>reliable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85" dirty="0">
                <a:latin typeface="Verdana"/>
                <a:cs typeface="Verdana"/>
              </a:rPr>
              <a:t>data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management </a:t>
            </a:r>
            <a:r>
              <a:rPr sz="1350" spc="-60" dirty="0">
                <a:latin typeface="Verdana"/>
                <a:cs typeface="Verdana"/>
              </a:rPr>
              <a:t>for</a:t>
            </a:r>
            <a:r>
              <a:rPr sz="1350" spc="-120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healthcare</a:t>
            </a:r>
            <a:r>
              <a:rPr sz="1350" spc="-114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operations.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10258425"/>
          </a:xfrm>
          <a:custGeom>
            <a:avLst/>
            <a:gdLst/>
            <a:ahLst/>
            <a:cxnLst/>
            <a:rect l="l" t="t" r="r" b="b"/>
            <a:pathLst>
              <a:path w="11430000" h="10258425">
                <a:moveTo>
                  <a:pt x="11430000" y="0"/>
                </a:moveTo>
                <a:lnTo>
                  <a:pt x="0" y="0"/>
                </a:lnTo>
                <a:lnTo>
                  <a:pt x="0" y="10258425"/>
                </a:lnTo>
                <a:lnTo>
                  <a:pt x="11430000" y="102584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50" cy="102584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70"/>
              </a:spcBef>
            </a:pPr>
            <a:r>
              <a:rPr spc="-320" dirty="0"/>
              <a:t>Menu-</a:t>
            </a:r>
            <a:r>
              <a:rPr spc="-330" dirty="0"/>
              <a:t>Driven</a:t>
            </a:r>
            <a:r>
              <a:rPr spc="-245" dirty="0"/>
              <a:t> </a:t>
            </a:r>
            <a:r>
              <a:rPr spc="-300" dirty="0"/>
              <a:t>Interface </a:t>
            </a:r>
            <a:r>
              <a:rPr spc="-295" dirty="0"/>
              <a:t>Using</a:t>
            </a:r>
            <a:r>
              <a:rPr spc="-270" dirty="0"/>
              <a:t> </a:t>
            </a:r>
            <a:r>
              <a:rPr spc="-355" dirty="0"/>
              <a:t>Loops</a:t>
            </a:r>
            <a:r>
              <a:rPr spc="-265" dirty="0"/>
              <a:t> </a:t>
            </a:r>
            <a:r>
              <a:rPr spc="-185" dirty="0"/>
              <a:t>&amp;</a:t>
            </a:r>
            <a:r>
              <a:rPr spc="-265" dirty="0"/>
              <a:t> </a:t>
            </a:r>
            <a:r>
              <a:rPr spc="-325" dirty="0"/>
              <a:t>Switch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94717" y="1899642"/>
            <a:ext cx="868044" cy="3881120"/>
            <a:chOff x="594717" y="1899642"/>
            <a:chExt cx="868044" cy="3881120"/>
          </a:xfrm>
        </p:grpSpPr>
        <p:sp>
          <p:nvSpPr>
            <p:cNvPr id="8" name="object 8"/>
            <p:cNvSpPr/>
            <p:nvPr/>
          </p:nvSpPr>
          <p:spPr>
            <a:xfrm>
              <a:off x="600075" y="1905000"/>
              <a:ext cx="857250" cy="1289050"/>
            </a:xfrm>
            <a:custGeom>
              <a:avLst/>
              <a:gdLst/>
              <a:ahLst/>
              <a:cxnLst/>
              <a:rect l="l" t="t" r="r" b="b"/>
              <a:pathLst>
                <a:path w="857250" h="128905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117549"/>
                  </a:lnTo>
                  <a:lnTo>
                    <a:pt x="428625" y="1288999"/>
                  </a:lnTo>
                  <a:lnTo>
                    <a:pt x="857250" y="1117549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075" y="1905000"/>
              <a:ext cx="857250" cy="1289050"/>
            </a:xfrm>
            <a:custGeom>
              <a:avLst/>
              <a:gdLst/>
              <a:ahLst/>
              <a:cxnLst/>
              <a:rect l="l" t="t" r="r" b="b"/>
              <a:pathLst>
                <a:path w="857250" h="1289050">
                  <a:moveTo>
                    <a:pt x="0" y="1117549"/>
                  </a:moveTo>
                  <a:lnTo>
                    <a:pt x="428625" y="1288999"/>
                  </a:lnTo>
                  <a:lnTo>
                    <a:pt x="857250" y="1117549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117549"/>
                  </a:lnTo>
                  <a:close/>
                </a:path>
              </a:pathLst>
            </a:custGeom>
            <a:ln w="1071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2968" y="2413580"/>
              <a:ext cx="220768" cy="26881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0075" y="3200400"/>
              <a:ext cx="857250" cy="1289050"/>
            </a:xfrm>
            <a:custGeom>
              <a:avLst/>
              <a:gdLst/>
              <a:ahLst/>
              <a:cxnLst/>
              <a:rect l="l" t="t" r="r" b="b"/>
              <a:pathLst>
                <a:path w="857250" h="128905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117549"/>
                  </a:lnTo>
                  <a:lnTo>
                    <a:pt x="428625" y="1288999"/>
                  </a:lnTo>
                  <a:lnTo>
                    <a:pt x="857250" y="1117549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075" y="3200400"/>
              <a:ext cx="857250" cy="1289050"/>
            </a:xfrm>
            <a:custGeom>
              <a:avLst/>
              <a:gdLst/>
              <a:ahLst/>
              <a:cxnLst/>
              <a:rect l="l" t="t" r="r" b="b"/>
              <a:pathLst>
                <a:path w="857250" h="1289050">
                  <a:moveTo>
                    <a:pt x="0" y="1117549"/>
                  </a:moveTo>
                  <a:lnTo>
                    <a:pt x="428625" y="1288999"/>
                  </a:lnTo>
                  <a:lnTo>
                    <a:pt x="857250" y="1117549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117549"/>
                  </a:lnTo>
                  <a:close/>
                </a:path>
              </a:pathLst>
            </a:custGeom>
            <a:ln w="1071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1315" y="3708950"/>
              <a:ext cx="184255" cy="26867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0075" y="4486275"/>
              <a:ext cx="857250" cy="1289050"/>
            </a:xfrm>
            <a:custGeom>
              <a:avLst/>
              <a:gdLst/>
              <a:ahLst/>
              <a:cxnLst/>
              <a:rect l="l" t="t" r="r" b="b"/>
              <a:pathLst>
                <a:path w="857250" h="128905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117549"/>
                  </a:lnTo>
                  <a:lnTo>
                    <a:pt x="428625" y="1288999"/>
                  </a:lnTo>
                  <a:lnTo>
                    <a:pt x="857250" y="1117549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0075" y="4486275"/>
              <a:ext cx="857250" cy="1289050"/>
            </a:xfrm>
            <a:custGeom>
              <a:avLst/>
              <a:gdLst/>
              <a:ahLst/>
              <a:cxnLst/>
              <a:rect l="l" t="t" r="r" b="b"/>
              <a:pathLst>
                <a:path w="857250" h="1289050">
                  <a:moveTo>
                    <a:pt x="0" y="1117549"/>
                  </a:moveTo>
                  <a:lnTo>
                    <a:pt x="428625" y="1288999"/>
                  </a:lnTo>
                  <a:lnTo>
                    <a:pt x="857250" y="1117549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117549"/>
                  </a:lnTo>
                  <a:close/>
                </a:path>
              </a:pathLst>
            </a:custGeom>
            <a:ln w="1071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1200" y="4994929"/>
              <a:ext cx="244722" cy="26856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600074" y="5962650"/>
            <a:ext cx="5943600" cy="3829050"/>
            <a:chOff x="600074" y="5962650"/>
            <a:chExt cx="5943600" cy="3829050"/>
          </a:xfrm>
        </p:grpSpPr>
        <p:sp>
          <p:nvSpPr>
            <p:cNvPr id="18" name="object 18"/>
            <p:cNvSpPr/>
            <p:nvPr/>
          </p:nvSpPr>
          <p:spPr>
            <a:xfrm>
              <a:off x="600074" y="5962650"/>
              <a:ext cx="5943600" cy="3829050"/>
            </a:xfrm>
            <a:custGeom>
              <a:avLst/>
              <a:gdLst/>
              <a:ahLst/>
              <a:cxnLst/>
              <a:rect l="l" t="t" r="r" b="b"/>
              <a:pathLst>
                <a:path w="5943600" h="3829050">
                  <a:moveTo>
                    <a:pt x="5887529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3769041"/>
                  </a:lnTo>
                  <a:lnTo>
                    <a:pt x="0" y="3772980"/>
                  </a:lnTo>
                  <a:lnTo>
                    <a:pt x="14789" y="3808684"/>
                  </a:lnTo>
                  <a:lnTo>
                    <a:pt x="52163" y="3828662"/>
                  </a:lnTo>
                  <a:lnTo>
                    <a:pt x="56067" y="3829048"/>
                  </a:lnTo>
                  <a:lnTo>
                    <a:pt x="5887529" y="3829048"/>
                  </a:lnTo>
                  <a:lnTo>
                    <a:pt x="5923229" y="3814260"/>
                  </a:lnTo>
                  <a:lnTo>
                    <a:pt x="5943219" y="3776884"/>
                  </a:lnTo>
                  <a:lnTo>
                    <a:pt x="5943600" y="3772980"/>
                  </a:lnTo>
                  <a:lnTo>
                    <a:pt x="5943600" y="56070"/>
                  </a:lnTo>
                  <a:lnTo>
                    <a:pt x="5928817" y="20358"/>
                  </a:lnTo>
                  <a:lnTo>
                    <a:pt x="5891441" y="381"/>
                  </a:lnTo>
                  <a:lnTo>
                    <a:pt x="5887529" y="0"/>
                  </a:lnTo>
                  <a:close/>
                </a:path>
              </a:pathLst>
            </a:custGeom>
            <a:solidFill>
              <a:srgbClr val="F0ED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0074" y="5962650"/>
              <a:ext cx="5943600" cy="3829050"/>
            </a:xfrm>
            <a:custGeom>
              <a:avLst/>
              <a:gdLst/>
              <a:ahLst/>
              <a:cxnLst/>
              <a:rect l="l" t="t" r="r" b="b"/>
              <a:pathLst>
                <a:path w="5943600" h="3829050">
                  <a:moveTo>
                    <a:pt x="5891555" y="0"/>
                  </a:moveTo>
                  <a:lnTo>
                    <a:pt x="52049" y="0"/>
                  </a:lnTo>
                  <a:lnTo>
                    <a:pt x="44395" y="1523"/>
                  </a:lnTo>
                  <a:lnTo>
                    <a:pt x="11950" y="23202"/>
                  </a:lnTo>
                  <a:lnTo>
                    <a:pt x="0" y="52044"/>
                  </a:lnTo>
                  <a:lnTo>
                    <a:pt x="0" y="3776998"/>
                  </a:lnTo>
                  <a:lnTo>
                    <a:pt x="23202" y="3817097"/>
                  </a:lnTo>
                  <a:lnTo>
                    <a:pt x="52049" y="3829048"/>
                  </a:lnTo>
                  <a:lnTo>
                    <a:pt x="5891555" y="3829048"/>
                  </a:lnTo>
                  <a:lnTo>
                    <a:pt x="5931648" y="3805846"/>
                  </a:lnTo>
                  <a:lnTo>
                    <a:pt x="5943599" y="3776998"/>
                  </a:lnTo>
                  <a:lnTo>
                    <a:pt x="5943599" y="52044"/>
                  </a:lnTo>
                  <a:lnTo>
                    <a:pt x="5920396" y="11950"/>
                  </a:lnTo>
                  <a:lnTo>
                    <a:pt x="5891555" y="0"/>
                  </a:lnTo>
                  <a:close/>
                </a:path>
              </a:pathLst>
            </a:custGeom>
            <a:solidFill>
              <a:srgbClr val="F0ED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50341" y="2037556"/>
            <a:ext cx="5619750" cy="76015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78205">
              <a:lnSpc>
                <a:spcPct val="100000"/>
              </a:lnSpc>
              <a:spcBef>
                <a:spcPts val="105"/>
              </a:spcBef>
            </a:pPr>
            <a:r>
              <a:rPr sz="1850" b="1" spc="-150" dirty="0">
                <a:solidFill>
                  <a:srgbClr val="262424"/>
                </a:solidFill>
                <a:latin typeface="Georgia"/>
                <a:cs typeface="Georgia"/>
              </a:rPr>
              <a:t>Display</a:t>
            </a:r>
            <a:r>
              <a:rPr sz="1850" b="1" spc="-9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50" b="1" spc="-20" dirty="0">
                <a:solidFill>
                  <a:srgbClr val="262424"/>
                </a:solidFill>
                <a:latin typeface="Georgia"/>
                <a:cs typeface="Georgia"/>
              </a:rPr>
              <a:t>Menu</a:t>
            </a:r>
            <a:endParaRPr sz="1850">
              <a:latin typeface="Georgia"/>
              <a:cs typeface="Georgia"/>
            </a:endParaRPr>
          </a:p>
          <a:p>
            <a:pPr marL="878205" marR="367665">
              <a:lnSpc>
                <a:spcPct val="134300"/>
              </a:lnSpc>
              <a:spcBef>
                <a:spcPts val="725"/>
              </a:spcBef>
            </a:pP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Loop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presents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clear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options: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Add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Patient,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View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Verdana"/>
                <a:cs typeface="Verdana"/>
              </a:rPr>
              <a:t>Records,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Search,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Exit.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350">
              <a:latin typeface="Verdana"/>
              <a:cs typeface="Verdana"/>
            </a:endParaRPr>
          </a:p>
          <a:p>
            <a:pPr marL="878205">
              <a:lnSpc>
                <a:spcPct val="100000"/>
              </a:lnSpc>
              <a:spcBef>
                <a:spcPts val="5"/>
              </a:spcBef>
            </a:pPr>
            <a:r>
              <a:rPr sz="1850" b="1" spc="-175" dirty="0">
                <a:solidFill>
                  <a:srgbClr val="262424"/>
                </a:solidFill>
                <a:latin typeface="Georgia"/>
                <a:cs typeface="Georgia"/>
              </a:rPr>
              <a:t>Handle</a:t>
            </a:r>
            <a:r>
              <a:rPr sz="1850" b="1" spc="-10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50" b="1" spc="-10" dirty="0">
                <a:solidFill>
                  <a:srgbClr val="262424"/>
                </a:solidFill>
                <a:latin typeface="Georgia"/>
                <a:cs typeface="Georgia"/>
              </a:rPr>
              <a:t>Choice</a:t>
            </a:r>
            <a:endParaRPr sz="1850">
              <a:latin typeface="Georgia"/>
              <a:cs typeface="Georgia"/>
            </a:endParaRPr>
          </a:p>
          <a:p>
            <a:pPr marL="878205" marR="5080">
              <a:lnSpc>
                <a:spcPct val="134300"/>
              </a:lnSpc>
              <a:spcBef>
                <a:spcPts val="650"/>
              </a:spcBef>
            </a:pP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Switch-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case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structure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processes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user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selections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cleanly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efficiently.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350">
              <a:latin typeface="Verdana"/>
              <a:cs typeface="Verdana"/>
            </a:endParaRPr>
          </a:p>
          <a:p>
            <a:pPr marL="878205">
              <a:lnSpc>
                <a:spcPct val="100000"/>
              </a:lnSpc>
            </a:pPr>
            <a:r>
              <a:rPr sz="1850" b="1" spc="-155" dirty="0">
                <a:solidFill>
                  <a:srgbClr val="262424"/>
                </a:solidFill>
                <a:latin typeface="Georgia"/>
                <a:cs typeface="Georgia"/>
              </a:rPr>
              <a:t>Continuous</a:t>
            </a:r>
            <a:r>
              <a:rPr sz="1850" b="1" spc="-8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50" b="1" spc="-20" dirty="0">
                <a:solidFill>
                  <a:srgbClr val="262424"/>
                </a:solidFill>
                <a:latin typeface="Georgia"/>
                <a:cs typeface="Georgia"/>
              </a:rPr>
              <a:t>Flow</a:t>
            </a:r>
            <a:endParaRPr sz="1850">
              <a:latin typeface="Georgia"/>
              <a:cs typeface="Georgia"/>
            </a:endParaRPr>
          </a:p>
          <a:p>
            <a:pPr marL="878205" marR="171450">
              <a:lnSpc>
                <a:spcPct val="129600"/>
              </a:lnSpc>
              <a:spcBef>
                <a:spcPts val="805"/>
              </a:spcBef>
            </a:pP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Loop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continues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until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Exit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is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selected,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ensuring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smooth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user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experience.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350">
              <a:latin typeface="Verdana"/>
              <a:cs typeface="Verdana"/>
            </a:endParaRPr>
          </a:p>
          <a:p>
            <a:pPr marL="53340" marR="3505835" indent="-41275">
              <a:lnSpc>
                <a:spcPct val="133300"/>
              </a:lnSpc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while(choice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80" dirty="0">
                <a:solidFill>
                  <a:srgbClr val="262424"/>
                </a:solidFill>
                <a:latin typeface="Tahoma"/>
                <a:cs typeface="Tahoma"/>
              </a:rPr>
              <a:t>!=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Tahoma"/>
                <a:cs typeface="Tahoma"/>
              </a:rPr>
              <a:t>4)</a:t>
            </a:r>
            <a:r>
              <a:rPr sz="1350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{</a:t>
            </a:r>
            <a:r>
              <a:rPr sz="1350" spc="5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printf("1.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Add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Patient\n");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printf("2.</a:t>
            </a:r>
            <a:r>
              <a:rPr sz="1350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View</a:t>
            </a:r>
            <a:r>
              <a:rPr sz="1350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Records\n");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printf("3.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Search\n");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printf("4.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Exit\n"); </a:t>
            </a: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scanf("%d",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&amp;choice);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350">
              <a:latin typeface="Tahoma"/>
              <a:cs typeface="Tahoma"/>
            </a:endParaRPr>
          </a:p>
          <a:p>
            <a:pPr marL="53340">
              <a:lnSpc>
                <a:spcPct val="100000"/>
              </a:lnSpc>
            </a:pP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switch(choice)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{</a:t>
            </a:r>
            <a:endParaRPr sz="1350">
              <a:latin typeface="Tahoma"/>
              <a:cs typeface="Tahoma"/>
            </a:endParaRPr>
          </a:p>
          <a:p>
            <a:pPr marL="53340" marR="3284220">
              <a:lnSpc>
                <a:spcPts val="2180"/>
              </a:lnSpc>
              <a:spcBef>
                <a:spcPts val="9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case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Tahoma"/>
                <a:cs typeface="Tahoma"/>
              </a:rPr>
              <a:t>1: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addPatient();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break;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case</a:t>
            </a:r>
            <a:r>
              <a:rPr sz="1350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Tahoma"/>
                <a:cs typeface="Tahoma"/>
              </a:rPr>
              <a:t>2: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viewRecords();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break;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case</a:t>
            </a:r>
            <a:r>
              <a:rPr sz="1350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Tahoma"/>
                <a:cs typeface="Tahoma"/>
              </a:rPr>
              <a:t>3: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searchPatient();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break;</a:t>
            </a:r>
            <a:endParaRPr sz="1350">
              <a:latin typeface="Tahoma"/>
              <a:cs typeface="Tahoma"/>
            </a:endParaRPr>
          </a:p>
          <a:p>
            <a:pPr marL="53340">
              <a:lnSpc>
                <a:spcPct val="100000"/>
              </a:lnSpc>
              <a:spcBef>
                <a:spcPts val="375"/>
              </a:spcBef>
            </a:pP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}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}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10625"/>
          </a:xfrm>
          <a:custGeom>
            <a:avLst/>
            <a:gdLst/>
            <a:ahLst/>
            <a:cxnLst/>
            <a:rect l="l" t="t" r="r" b="b"/>
            <a:pathLst>
              <a:path w="11430000" h="8810625">
                <a:moveTo>
                  <a:pt x="11430000" y="0"/>
                </a:moveTo>
                <a:lnTo>
                  <a:pt x="0" y="0"/>
                </a:lnTo>
                <a:lnTo>
                  <a:pt x="0" y="8810625"/>
                </a:lnTo>
                <a:lnTo>
                  <a:pt x="11430000" y="88106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420687"/>
            <a:ext cx="444754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35" dirty="0"/>
              <a:t>Sample</a:t>
            </a:r>
            <a:r>
              <a:rPr spc="-265" dirty="0"/>
              <a:t> </a:t>
            </a:r>
            <a:r>
              <a:rPr spc="-315" dirty="0"/>
              <a:t>Code</a:t>
            </a:r>
            <a:r>
              <a:rPr spc="-260" dirty="0"/>
              <a:t> </a:t>
            </a:r>
            <a:r>
              <a:rPr spc="-300" dirty="0"/>
              <a:t>Snippet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5" y="1095057"/>
            <a:ext cx="4528185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spc="-165" dirty="0">
                <a:solidFill>
                  <a:srgbClr val="F95F87"/>
                </a:solidFill>
                <a:latin typeface="Georgia"/>
                <a:cs typeface="Georgia"/>
              </a:rPr>
              <a:t>Finding</a:t>
            </a:r>
            <a:r>
              <a:rPr sz="2200" b="1" spc="-125" dirty="0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sz="2200" b="1" spc="-204" dirty="0">
                <a:solidFill>
                  <a:srgbClr val="F95F87"/>
                </a:solidFill>
                <a:latin typeface="Georgia"/>
                <a:cs typeface="Georgia"/>
              </a:rPr>
              <a:t>Maximum</a:t>
            </a:r>
            <a:r>
              <a:rPr sz="2200" b="1" spc="-125" dirty="0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sz="2200" b="1" spc="-150" dirty="0">
                <a:solidFill>
                  <a:srgbClr val="F95F87"/>
                </a:solidFill>
                <a:latin typeface="Georgia"/>
                <a:cs typeface="Georgia"/>
              </a:rPr>
              <a:t>of</a:t>
            </a:r>
            <a:r>
              <a:rPr sz="2200" b="1" spc="-125" dirty="0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sz="2200" b="1" spc="-235" dirty="0">
                <a:solidFill>
                  <a:srgbClr val="F95F87"/>
                </a:solidFill>
                <a:latin typeface="Georgia"/>
                <a:cs typeface="Georgia"/>
              </a:rPr>
              <a:t>Four</a:t>
            </a:r>
            <a:r>
              <a:rPr sz="2200" b="1" spc="-120" dirty="0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sz="2200" b="1" spc="-165" dirty="0">
                <a:solidFill>
                  <a:srgbClr val="F95F87"/>
                </a:solidFill>
                <a:latin typeface="Georgia"/>
                <a:cs typeface="Georgia"/>
              </a:rPr>
              <a:t>Numbers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375" y="1678939"/>
            <a:ext cx="983043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This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example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demonstrates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fundamental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programming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concepts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used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throughout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hospital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management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system4helper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functions,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parameter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passing,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logical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operations.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0062" y="2676525"/>
            <a:ext cx="5972810" cy="5467350"/>
          </a:xfrm>
          <a:custGeom>
            <a:avLst/>
            <a:gdLst/>
            <a:ahLst/>
            <a:cxnLst/>
            <a:rect l="l" t="t" r="r" b="b"/>
            <a:pathLst>
              <a:path w="5972809" h="5467350">
                <a:moveTo>
                  <a:pt x="5972187" y="56083"/>
                </a:moveTo>
                <a:lnTo>
                  <a:pt x="5972175" y="55956"/>
                </a:lnTo>
                <a:lnTo>
                  <a:pt x="5972175" y="52057"/>
                </a:lnTo>
                <a:lnTo>
                  <a:pt x="5970651" y="44411"/>
                </a:lnTo>
                <a:lnTo>
                  <a:pt x="5969178" y="40881"/>
                </a:lnTo>
                <a:lnTo>
                  <a:pt x="5969127" y="40678"/>
                </a:lnTo>
                <a:lnTo>
                  <a:pt x="5966104" y="33401"/>
                </a:lnTo>
                <a:lnTo>
                  <a:pt x="5966015" y="33261"/>
                </a:lnTo>
                <a:lnTo>
                  <a:pt x="5964555" y="29705"/>
                </a:lnTo>
                <a:lnTo>
                  <a:pt x="5960224" y="23215"/>
                </a:lnTo>
                <a:lnTo>
                  <a:pt x="5957506" y="20510"/>
                </a:lnTo>
                <a:lnTo>
                  <a:pt x="5957392" y="20358"/>
                </a:lnTo>
                <a:lnTo>
                  <a:pt x="5951817" y="14782"/>
                </a:lnTo>
                <a:lnTo>
                  <a:pt x="5951677" y="14681"/>
                </a:lnTo>
                <a:lnTo>
                  <a:pt x="5948972" y="11963"/>
                </a:lnTo>
                <a:lnTo>
                  <a:pt x="5942482" y="7632"/>
                </a:lnTo>
                <a:lnTo>
                  <a:pt x="5939028" y="6210"/>
                </a:lnTo>
                <a:lnTo>
                  <a:pt x="5938786" y="6070"/>
                </a:lnTo>
                <a:lnTo>
                  <a:pt x="5931497" y="3060"/>
                </a:lnTo>
                <a:lnTo>
                  <a:pt x="5931319" y="3009"/>
                </a:lnTo>
                <a:lnTo>
                  <a:pt x="5927776" y="1536"/>
                </a:lnTo>
                <a:lnTo>
                  <a:pt x="5920130" y="12"/>
                </a:lnTo>
                <a:lnTo>
                  <a:pt x="5916244" y="12"/>
                </a:lnTo>
                <a:lnTo>
                  <a:pt x="5916117" y="0"/>
                </a:lnTo>
                <a:lnTo>
                  <a:pt x="56070" y="0"/>
                </a:lnTo>
                <a:lnTo>
                  <a:pt x="55930" y="12"/>
                </a:lnTo>
                <a:lnTo>
                  <a:pt x="52057" y="12"/>
                </a:lnTo>
                <a:lnTo>
                  <a:pt x="44399" y="1536"/>
                </a:lnTo>
                <a:lnTo>
                  <a:pt x="40805" y="3035"/>
                </a:lnTo>
                <a:lnTo>
                  <a:pt x="33413" y="6070"/>
                </a:lnTo>
                <a:lnTo>
                  <a:pt x="33248" y="6159"/>
                </a:lnTo>
                <a:lnTo>
                  <a:pt x="29692" y="7632"/>
                </a:lnTo>
                <a:lnTo>
                  <a:pt x="23202" y="11963"/>
                </a:lnTo>
                <a:lnTo>
                  <a:pt x="20434" y="14732"/>
                </a:lnTo>
                <a:lnTo>
                  <a:pt x="14795" y="20358"/>
                </a:lnTo>
                <a:lnTo>
                  <a:pt x="11950" y="23215"/>
                </a:lnTo>
                <a:lnTo>
                  <a:pt x="7620" y="29705"/>
                </a:lnTo>
                <a:lnTo>
                  <a:pt x="6096" y="33362"/>
                </a:lnTo>
                <a:lnTo>
                  <a:pt x="3860" y="38773"/>
                </a:lnTo>
                <a:lnTo>
                  <a:pt x="3073" y="40678"/>
                </a:lnTo>
                <a:lnTo>
                  <a:pt x="1524" y="44411"/>
                </a:lnTo>
                <a:lnTo>
                  <a:pt x="0" y="52057"/>
                </a:lnTo>
                <a:lnTo>
                  <a:pt x="0" y="5415305"/>
                </a:lnTo>
                <a:lnTo>
                  <a:pt x="1524" y="5422963"/>
                </a:lnTo>
                <a:lnTo>
                  <a:pt x="23202" y="5455399"/>
                </a:lnTo>
                <a:lnTo>
                  <a:pt x="52057" y="5467350"/>
                </a:lnTo>
                <a:lnTo>
                  <a:pt x="56070" y="5467350"/>
                </a:lnTo>
                <a:lnTo>
                  <a:pt x="5916117" y="5467350"/>
                </a:lnTo>
                <a:lnTo>
                  <a:pt x="5920130" y="5467350"/>
                </a:lnTo>
                <a:lnTo>
                  <a:pt x="5927776" y="5465838"/>
                </a:lnTo>
                <a:lnTo>
                  <a:pt x="5935802" y="5462511"/>
                </a:lnTo>
                <a:lnTo>
                  <a:pt x="5938786" y="5461279"/>
                </a:lnTo>
                <a:lnTo>
                  <a:pt x="5942482" y="5459742"/>
                </a:lnTo>
                <a:lnTo>
                  <a:pt x="5948972" y="5455399"/>
                </a:lnTo>
                <a:lnTo>
                  <a:pt x="5951753" y="5452618"/>
                </a:lnTo>
                <a:lnTo>
                  <a:pt x="5957392" y="5446992"/>
                </a:lnTo>
                <a:lnTo>
                  <a:pt x="5960224" y="5444160"/>
                </a:lnTo>
                <a:lnTo>
                  <a:pt x="5964555" y="5437670"/>
                </a:lnTo>
                <a:lnTo>
                  <a:pt x="5966066" y="5434012"/>
                </a:lnTo>
                <a:lnTo>
                  <a:pt x="5969127" y="5426672"/>
                </a:lnTo>
                <a:lnTo>
                  <a:pt x="5970651" y="5422963"/>
                </a:lnTo>
                <a:lnTo>
                  <a:pt x="5972175" y="5415305"/>
                </a:lnTo>
                <a:lnTo>
                  <a:pt x="5972175" y="5411432"/>
                </a:lnTo>
                <a:lnTo>
                  <a:pt x="5972187" y="5411292"/>
                </a:lnTo>
                <a:lnTo>
                  <a:pt x="5972187" y="56083"/>
                </a:lnTo>
                <a:close/>
              </a:path>
            </a:pathLst>
          </a:custGeom>
          <a:solidFill>
            <a:srgbClr val="F0ED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0341" y="2816225"/>
            <a:ext cx="14433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#include</a:t>
            </a:r>
            <a:r>
              <a:rPr sz="1350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62424"/>
                </a:solidFill>
                <a:latin typeface="Tahoma"/>
                <a:cs typeface="Tahoma"/>
              </a:rPr>
              <a:t>&lt;stdio.h&gt;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0341" y="3298190"/>
            <a:ext cx="3745865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//</a:t>
            </a:r>
            <a:r>
              <a:rPr sz="135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Helper</a:t>
            </a:r>
            <a:r>
              <a:rPr sz="135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function</a:t>
            </a:r>
            <a:r>
              <a:rPr sz="135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35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return</a:t>
            </a:r>
            <a:r>
              <a:rPr sz="135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max</a:t>
            </a:r>
            <a:r>
              <a:rPr sz="135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two</a:t>
            </a:r>
            <a:r>
              <a:rPr sz="135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numbers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max(int</a:t>
            </a:r>
            <a:r>
              <a:rPr sz="1350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x,</a:t>
            </a:r>
            <a:r>
              <a:rPr sz="1350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y)</a:t>
            </a:r>
            <a:r>
              <a:rPr sz="1350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{</a:t>
            </a:r>
            <a:endParaRPr sz="1350">
              <a:latin typeface="Tahoma"/>
              <a:cs typeface="Tahoma"/>
            </a:endParaRPr>
          </a:p>
          <a:p>
            <a:pPr marL="176530">
              <a:lnSpc>
                <a:spcPct val="100000"/>
              </a:lnSpc>
              <a:spcBef>
                <a:spcPts val="55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return</a:t>
            </a:r>
            <a:r>
              <a:rPr sz="135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(x</a:t>
            </a:r>
            <a:r>
              <a:rPr sz="135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25" dirty="0">
                <a:solidFill>
                  <a:srgbClr val="262424"/>
                </a:solidFill>
                <a:latin typeface="Tahoma"/>
                <a:cs typeface="Tahoma"/>
              </a:rPr>
              <a:t>&gt;</a:t>
            </a:r>
            <a:r>
              <a:rPr sz="135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y)</a:t>
            </a:r>
            <a:r>
              <a:rPr sz="135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Tahoma"/>
                <a:cs typeface="Tahoma"/>
              </a:rPr>
              <a:t>?</a:t>
            </a:r>
            <a:r>
              <a:rPr sz="135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x</a:t>
            </a:r>
            <a:r>
              <a:rPr sz="135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30" dirty="0">
                <a:solidFill>
                  <a:srgbClr val="262424"/>
                </a:solidFill>
                <a:latin typeface="Tahoma"/>
                <a:cs typeface="Tahoma"/>
              </a:rPr>
              <a:t>:</a:t>
            </a:r>
            <a:r>
              <a:rPr sz="135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y;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}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341" y="4669790"/>
            <a:ext cx="3254375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//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Function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return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max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sz="135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four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numbers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max_of_four(int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62424"/>
                </a:solidFill>
                <a:latin typeface="Tahoma"/>
                <a:cs typeface="Tahoma"/>
              </a:rPr>
              <a:t>a,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b,</a:t>
            </a:r>
            <a:r>
              <a:rPr sz="1350" spc="-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c,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d)</a:t>
            </a:r>
            <a:r>
              <a:rPr sz="1350" spc="-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{</a:t>
            </a:r>
            <a:endParaRPr sz="1350">
              <a:latin typeface="Tahoma"/>
              <a:cs typeface="Tahoma"/>
            </a:endParaRPr>
          </a:p>
          <a:p>
            <a:pPr marL="176530">
              <a:lnSpc>
                <a:spcPct val="100000"/>
              </a:lnSpc>
              <a:spcBef>
                <a:spcPts val="55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return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max(max(a,</a:t>
            </a: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Tahoma"/>
                <a:cs typeface="Tahoma"/>
              </a:rPr>
              <a:t>b),</a:t>
            </a: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max(c,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d));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}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0341" y="6041390"/>
            <a:ext cx="3133725" cy="194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30" marR="2043430" indent="-164465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main()</a:t>
            </a:r>
            <a:r>
              <a:rPr sz="1350" spc="-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{</a:t>
            </a:r>
            <a:r>
              <a:rPr sz="1350" spc="5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262424"/>
                </a:solidFill>
                <a:latin typeface="Tahoma"/>
                <a:cs typeface="Tahoma"/>
              </a:rPr>
              <a:t>a,</a:t>
            </a:r>
            <a:r>
              <a:rPr sz="135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b,</a:t>
            </a:r>
            <a:r>
              <a:rPr sz="135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c,</a:t>
            </a:r>
            <a:r>
              <a:rPr sz="1350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d;</a:t>
            </a:r>
            <a:endParaRPr sz="1350">
              <a:latin typeface="Tahoma"/>
              <a:cs typeface="Tahoma"/>
            </a:endParaRPr>
          </a:p>
          <a:p>
            <a:pPr marL="176530" marR="5080">
              <a:lnSpc>
                <a:spcPct val="131900"/>
              </a:lnSpc>
              <a:spcBef>
                <a:spcPts val="35"/>
              </a:spcBef>
            </a:pPr>
            <a:r>
              <a:rPr sz="1350" spc="-40" dirty="0">
                <a:solidFill>
                  <a:srgbClr val="262424"/>
                </a:solidFill>
                <a:latin typeface="Tahoma"/>
                <a:cs typeface="Tahoma"/>
              </a:rPr>
              <a:t>scanf("%d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Tahoma"/>
                <a:cs typeface="Tahoma"/>
              </a:rPr>
              <a:t>%d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Tahoma"/>
                <a:cs typeface="Tahoma"/>
              </a:rPr>
              <a:t>%d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Tahoma"/>
                <a:cs typeface="Tahoma"/>
              </a:rPr>
              <a:t>%d",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&amp;a,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&amp;b,</a:t>
            </a:r>
            <a:r>
              <a:rPr sz="1350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&amp;c,</a:t>
            </a:r>
            <a:r>
              <a:rPr sz="1350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&amp;d);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int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ans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25" dirty="0">
                <a:solidFill>
                  <a:srgbClr val="262424"/>
                </a:solidFill>
                <a:latin typeface="Tahoma"/>
                <a:cs typeface="Tahoma"/>
              </a:rPr>
              <a:t>=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max_of_four(a,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b,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c,</a:t>
            </a:r>
            <a:r>
              <a:rPr sz="1350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d);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printf("%d\n",</a:t>
            </a:r>
            <a:r>
              <a:rPr sz="13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ans);</a:t>
            </a:r>
            <a:endParaRPr sz="1350">
              <a:latin typeface="Tahoma"/>
              <a:cs typeface="Tahoma"/>
            </a:endParaRPr>
          </a:p>
          <a:p>
            <a:pPr marL="176530">
              <a:lnSpc>
                <a:spcPct val="100000"/>
              </a:lnSpc>
              <a:spcBef>
                <a:spcPts val="55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return</a:t>
            </a: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Tahoma"/>
                <a:cs typeface="Tahoma"/>
              </a:rPr>
              <a:t>0;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50" dirty="0">
                <a:solidFill>
                  <a:srgbClr val="262424"/>
                </a:solidFill>
                <a:latin typeface="Tahoma"/>
                <a:cs typeface="Tahoma"/>
              </a:rPr>
              <a:t>}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29450" y="32385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29450" y="3571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29450" y="3905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29450" y="4238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985648" y="2618581"/>
            <a:ext cx="2941955" cy="1743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b="1" spc="-229" dirty="0">
                <a:solidFill>
                  <a:srgbClr val="F95F87"/>
                </a:solidFill>
                <a:latin typeface="Georgia"/>
                <a:cs typeface="Georgia"/>
              </a:rPr>
              <a:t>Key</a:t>
            </a:r>
            <a:r>
              <a:rPr sz="1850" b="1" spc="-114" dirty="0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sz="1850" b="1" spc="-25" dirty="0">
                <a:solidFill>
                  <a:srgbClr val="F95F87"/>
                </a:solidFill>
                <a:latin typeface="Georgia"/>
                <a:cs typeface="Georgia"/>
              </a:rPr>
              <a:t>Concepts</a:t>
            </a:r>
            <a:endParaRPr sz="1850">
              <a:latin typeface="Georgia"/>
              <a:cs typeface="Georgia"/>
            </a:endParaRPr>
          </a:p>
          <a:p>
            <a:pPr marL="286385">
              <a:lnSpc>
                <a:spcPct val="100000"/>
              </a:lnSpc>
              <a:spcBef>
                <a:spcPts val="1805"/>
              </a:spcBef>
            </a:pP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Modular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function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design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62000"/>
              </a:lnSpc>
            </a:pP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Ternary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operator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Verdana"/>
                <a:cs typeface="Verdana"/>
              </a:rPr>
              <a:t>concise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logic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Function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composition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Standard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input/output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operations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85648" y="4488815"/>
            <a:ext cx="377317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These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principles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Verdana"/>
                <a:cs typeface="Verdana"/>
              </a:rPr>
              <a:t>scale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more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complex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hospital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management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operations.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629</Words>
  <Application>Microsoft Office PowerPoint</Application>
  <PresentationFormat>Custom</PresentationFormat>
  <Paragraphs>72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Hospital Management System in C Efficient Patient &amp; Hospital Data Management</vt:lpstr>
      <vt:lpstr>Why a Hospital Management System?</vt:lpstr>
      <vt:lpstr>Core Concepts: Structures, Files &amp; Loops in C</vt:lpstr>
      <vt:lpstr>Defining Data with Structures</vt:lpstr>
      <vt:lpstr>Managing Data Persistence with Files</vt:lpstr>
      <vt:lpstr>Menu-Driven Interface Using Loops &amp; Switch</vt:lpstr>
      <vt:lpstr>Sample Code Snippet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DR Lab 2</cp:lastModifiedBy>
  <cp:revision>1</cp:revision>
  <dcterms:created xsi:type="dcterms:W3CDTF">2025-12-17T05:41:46Z</dcterms:created>
  <dcterms:modified xsi:type="dcterms:W3CDTF">2025-12-17T05:45:59Z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2025-12-17T00:00:00Z</vt:filetime>
  </property>
  <property fmtid="{D5CDD505-2E9C-101B-9397-08002B2CF9AE}" pid="5" name="Producer">
    <vt:lpwstr>GPL Ghostscript 9.56.1</vt:lpwstr>
  </property>
</Properties>
</file>